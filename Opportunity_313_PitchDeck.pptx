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Opportunity 313 helps Detroit youth and families find programs, jobs, and learning pathways, then understand the next step to participate. I built an iOS MVP and website and am looking for a Detroit partner to test the full path from discovery to enrollment.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afterschool study estimates unmet demand for 81,091 Detroit children. Location is a barrier for 64% of parents surveyed. Those are contextual figures, not our addressable market or evidence that software creates new seats. The pilot will test whether better discovery and accurate listings help families take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family journey. Search a relevant program, read whether the child qualifies, check cost and deadline, and use the provider contact. Saved listings and deadlines make return visits useful. The platform is meant to help a family reach a real provider, not just browse a directory.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actual MVP screens. Walk through signing in, selecting a child profile, and exploring the discovery feed. The product also has provider submission and administrator approval flows according to the current build. Demonstrate those live if available; do not claim direct provider integrations or completed enrollments before the pilot verifies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Opportunity 313 serves two sides: families who need understandable information and providers who need their programs represented accurately. A review step before publication supports trust. The pilot will establish who owns updates, how often listings are checked, and what happens when a program fills or a deadline passes.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pilot is proposed, not signed. Recruit a partner with existing youth outreach, then onboard a small set of providers and 25 to 50 youth and family testers. Instrument the journey from search to provider contact. Enrollment needs partner reporting or user follow-up; do not present it as already measured. Record barriers that the platform cannot solve, especially full programs and transportation.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not validated pricing or signed paid contracts. Our hypothesis is that institutions could fund access and providers might pay for workflow or reach. The pilot should first demonstrate useful referrals and listing quality. Expansion to another Detroit network would require proof that onboarding and review can be repeated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conversation with one Detroit school, library, or youth organization that can coordinate a focused pilot. The immediate help needed is a partner, provider introductions, and 25 to 50 testers. I am Kevin Colston, the founder and builder. Follow up with a product demo and a pilot scope.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D34"/>
        </a:solidFill>
        <a:effectLst/>
      </p:bgPr>
    </p:bg>
    <p:spTree>
      <p:nvGrpSpPr>
        <p:cNvPr id="1" name=""/>
        <p:cNvGrpSpPr/>
        <p:nvPr/>
      </p:nvGrpSpPr>
      <p:grpSpPr/>
      <p:sp>
        <p:nvSpPr>
          <p:cNvPr id="2" name="TextBox 1"/>
          <p:cNvSpPr txBox="1"/>
          <p:nvPr/>
        </p:nvSpPr>
        <p:spPr>
          <a:xfrm>
            <a:off x="640080" y="347472"/>
            <a:ext cx="10058400" cy="292608"/>
          </a:xfrm>
          <a:prstGeom prst="rect">
            <a:avLst/>
          </a:prstGeom>
          <a:noFill/>
        </p:spPr>
        <p:txBody>
          <a:bodyPr wrap="square" lIns="18288" rIns="18288" tIns="18288" bIns="18288">
            <a:spAutoFit/>
          </a:bodyPr>
          <a:lstStyle/>
          <a:p>
            <a:pPr>
              <a:spcAft>
                <a:spcPts val="700"/>
              </a:spcAft>
              <a:defRPr sz="1100" b="1">
                <a:solidFill>
                  <a:srgbClr val="FF5326"/>
                </a:solidFill>
                <a:latin typeface="DejaVu Sans"/>
              </a:defRPr>
            </a:pPr>
            <a:r>
              <a:t>DETROIT YOUTH OPPORTUNITY PLATFORM</a:t>
            </a:r>
          </a:p>
        </p:txBody>
      </p:sp>
      <p:sp>
        <p:nvSpPr>
          <p:cNvPr id="3" name="TextBox 2"/>
          <p:cNvSpPr txBox="1"/>
          <p:nvPr/>
        </p:nvSpPr>
        <p:spPr>
          <a:xfrm>
            <a:off x="640080" y="1097280"/>
            <a:ext cx="6766560" cy="914400"/>
          </a:xfrm>
          <a:prstGeom prst="rect">
            <a:avLst/>
          </a:prstGeom>
          <a:noFill/>
        </p:spPr>
        <p:txBody>
          <a:bodyPr wrap="square" lIns="18288" rIns="18288" tIns="18288" bIns="18288">
            <a:spAutoFit/>
          </a:bodyPr>
          <a:lstStyle/>
          <a:p>
            <a:pPr>
              <a:spcAft>
                <a:spcPts val="700"/>
              </a:spcAft>
              <a:defRPr sz="4300" b="1">
                <a:solidFill>
                  <a:srgbClr val="FFFFFF"/>
                </a:solidFill>
                <a:latin typeface="DejaVu Sans"/>
              </a:defRPr>
            </a:pPr>
            <a:r>
              <a:t>Opportunity 313</a:t>
            </a:r>
          </a:p>
        </p:txBody>
      </p:sp>
      <p:sp>
        <p:nvSpPr>
          <p:cNvPr id="4" name="Rectangle 3"/>
          <p:cNvSpPr/>
          <p:nvPr/>
        </p:nvSpPr>
        <p:spPr>
          <a:xfrm>
            <a:off x="658368" y="2212848"/>
            <a:ext cx="658368" cy="73152"/>
          </a:xfrm>
          <a:prstGeom prst="rect">
            <a:avLst/>
          </a:prstGeom>
          <a:solidFill>
            <a:srgbClr val="FF5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2514600"/>
            <a:ext cx="6172200" cy="1417320"/>
          </a:xfrm>
          <a:prstGeom prst="rect">
            <a:avLst/>
          </a:prstGeom>
          <a:noFill/>
        </p:spPr>
        <p:txBody>
          <a:bodyPr wrap="square" lIns="18288" rIns="18288" tIns="18288" bIns="18288">
            <a:spAutoFit/>
          </a:bodyPr>
          <a:lstStyle/>
          <a:p>
            <a:pPr>
              <a:spcAft>
                <a:spcPts val="700"/>
              </a:spcAft>
              <a:defRPr sz="2600" b="0">
                <a:solidFill>
                  <a:srgbClr val="FFFFFF"/>
                </a:solidFill>
                <a:latin typeface="DejaVu Sans"/>
              </a:defRPr>
            </a:pPr>
            <a:r>
              <a:t>A clearer path from finding an opportunity to taking part.</a:t>
            </a:r>
          </a:p>
        </p:txBody>
      </p:sp>
      <p:sp>
        <p:nvSpPr>
          <p:cNvPr id="6" name="TextBox 5"/>
          <p:cNvSpPr txBox="1"/>
          <p:nvPr/>
        </p:nvSpPr>
        <p:spPr>
          <a:xfrm>
            <a:off x="640080" y="5166360"/>
            <a:ext cx="6217920" cy="457200"/>
          </a:xfrm>
          <a:prstGeom prst="rect">
            <a:avLst/>
          </a:prstGeom>
          <a:noFill/>
        </p:spPr>
        <p:txBody>
          <a:bodyPr wrap="square" lIns="18288" rIns="18288" tIns="18288" bIns="18288">
            <a:spAutoFit/>
          </a:bodyPr>
          <a:lstStyle/>
          <a:p>
            <a:pPr>
              <a:spcAft>
                <a:spcPts val="700"/>
              </a:spcAft>
              <a:defRPr sz="1500" b="0">
                <a:solidFill>
                  <a:srgbClr val="DAE1E5"/>
                </a:solidFill>
                <a:latin typeface="DejaVu Sans"/>
              </a:defRPr>
            </a:pPr>
            <a:r>
              <a:t>Kevin Colston  |  Founder &amp; Builder</a:t>
            </a:r>
          </a:p>
        </p:txBody>
      </p:sp>
      <p:pic>
        <p:nvPicPr>
          <p:cNvPr id="7" name="Picture 6" descr="phone3.png"/>
          <p:cNvPicPr>
            <a:picLocks noChangeAspect="1"/>
          </p:cNvPicPr>
          <p:nvPr/>
        </p:nvPicPr>
        <p:blipFill>
          <a:blip r:embed="rId2"/>
          <a:stretch>
            <a:fillRect/>
          </a:stretch>
        </p:blipFill>
        <p:spPr>
          <a:xfrm>
            <a:off x="7955279" y="411480"/>
            <a:ext cx="3990277" cy="5989320"/>
          </a:xfrm>
          <a:prstGeom prst="rect">
            <a:avLst/>
          </a:prstGeom>
        </p:spPr>
      </p:pic>
      <p:sp>
        <p:nvSpPr>
          <p:cNvPr id="8" name="TextBox 7"/>
          <p:cNvSpPr txBox="1"/>
          <p:nvPr/>
        </p:nvSpPr>
        <p:spPr>
          <a:xfrm>
            <a:off x="658368" y="6464808"/>
            <a:ext cx="10058400" cy="219456"/>
          </a:xfrm>
          <a:prstGeom prst="rect">
            <a:avLst/>
          </a:prstGeom>
          <a:noFill/>
        </p:spPr>
        <p:txBody>
          <a:bodyPr wrap="square" lIns="18288" rIns="18288" tIns="18288" bIns="18288">
            <a:spAutoFit/>
          </a:bodyPr>
          <a:lstStyle/>
          <a:p>
            <a:pPr>
              <a:spcAft>
                <a:spcPts val="700"/>
              </a:spcAft>
              <a:defRPr sz="800" b="0">
                <a:solidFill>
                  <a:srgbClr val="DAE1E5"/>
                </a:solidFill>
                <a:latin typeface="DejaVu Sans"/>
              </a:defRPr>
            </a:pPr>
            <a:r>
              <a:t>OPPORTUNITY 313</a:t>
            </a:r>
          </a:p>
        </p:txBody>
      </p:sp>
      <p:sp>
        <p:nvSpPr>
          <p:cNvPr id="9" name="TextBox 8"/>
          <p:cNvSpPr txBox="1"/>
          <p:nvPr/>
        </p:nvSpPr>
        <p:spPr>
          <a:xfrm>
            <a:off x="11109960" y="6437376"/>
            <a:ext cx="411480" cy="256032"/>
          </a:xfrm>
          <a:prstGeom prst="rect">
            <a:avLst/>
          </a:prstGeom>
          <a:noFill/>
        </p:spPr>
        <p:txBody>
          <a:bodyPr wrap="square" lIns="18288" rIns="18288" tIns="18288" bIns="18288">
            <a:spAutoFit/>
          </a:bodyPr>
          <a:lstStyle/>
          <a:p>
            <a:pPr algn="r">
              <a:spcAft>
                <a:spcPts val="700"/>
              </a:spcAft>
              <a:defRPr sz="900" b="1">
                <a:solidFill>
                  <a:srgbClr val="DAE1E5"/>
                </a:solidFill>
                <a:latin typeface="DejaVu San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40080" y="347472"/>
            <a:ext cx="10058400" cy="292608"/>
          </a:xfrm>
          <a:prstGeom prst="rect">
            <a:avLst/>
          </a:prstGeom>
          <a:noFill/>
        </p:spPr>
        <p:txBody>
          <a:bodyPr wrap="square" lIns="18288" rIns="18288" tIns="18288" bIns="18288">
            <a:spAutoFit/>
          </a:bodyPr>
          <a:lstStyle/>
          <a:p>
            <a:pPr>
              <a:spcAft>
                <a:spcPts val="700"/>
              </a:spcAft>
              <a:defRPr sz="1100" b="1">
                <a:solidFill>
                  <a:srgbClr val="5A6B78"/>
                </a:solidFill>
                <a:latin typeface="DejaVu Sans"/>
              </a:defRPr>
            </a:pPr>
            <a:r>
              <a:t>THE PROBLEM</a:t>
            </a:r>
          </a:p>
        </p:txBody>
      </p:sp>
      <p:sp>
        <p:nvSpPr>
          <p:cNvPr id="3" name="TextBox 2"/>
          <p:cNvSpPr txBox="1"/>
          <p:nvPr/>
        </p:nvSpPr>
        <p:spPr>
          <a:xfrm>
            <a:off x="640080" y="960120"/>
            <a:ext cx="10927080" cy="1024128"/>
          </a:xfrm>
          <a:prstGeom prst="rect">
            <a:avLst/>
          </a:prstGeom>
          <a:noFill/>
        </p:spPr>
        <p:txBody>
          <a:bodyPr wrap="square" lIns="18288" rIns="18288" tIns="18288" bIns="18288">
            <a:spAutoFit/>
          </a:bodyPr>
          <a:lstStyle/>
          <a:p>
            <a:pPr>
              <a:spcAft>
                <a:spcPts val="700"/>
              </a:spcAft>
              <a:defRPr sz="3400" b="1">
                <a:solidFill>
                  <a:srgbClr val="132434"/>
                </a:solidFill>
                <a:latin typeface="DejaVu Sans"/>
              </a:defRPr>
            </a:pPr>
            <a:r>
              <a:t>Finding a program should not be the hardest step.</a:t>
            </a:r>
          </a:p>
        </p:txBody>
      </p:sp>
      <p:sp>
        <p:nvSpPr>
          <p:cNvPr id="4" name="TextBox 3"/>
          <p:cNvSpPr txBox="1"/>
          <p:nvPr/>
        </p:nvSpPr>
        <p:spPr>
          <a:xfrm>
            <a:off x="658368" y="2075688"/>
            <a:ext cx="5257800" cy="914400"/>
          </a:xfrm>
          <a:prstGeom prst="rect">
            <a:avLst/>
          </a:prstGeom>
          <a:noFill/>
        </p:spPr>
        <p:txBody>
          <a:bodyPr wrap="square" lIns="18288" rIns="18288" tIns="18288" bIns="18288">
            <a:spAutoFit/>
          </a:bodyPr>
          <a:lstStyle/>
          <a:p>
            <a:pPr>
              <a:spcAft>
                <a:spcPts val="700"/>
              </a:spcAft>
              <a:defRPr sz="4300" b="1">
                <a:solidFill>
                  <a:srgbClr val="FF5326"/>
                </a:solidFill>
                <a:latin typeface="DejaVu Sans"/>
              </a:defRPr>
            </a:pPr>
            <a:r>
              <a:t>81,091</a:t>
            </a:r>
          </a:p>
        </p:txBody>
      </p:sp>
      <p:sp>
        <p:nvSpPr>
          <p:cNvPr id="5" name="TextBox 4"/>
          <p:cNvSpPr txBox="1"/>
          <p:nvPr/>
        </p:nvSpPr>
        <p:spPr>
          <a:xfrm>
            <a:off x="658368" y="2916936"/>
            <a:ext cx="5257800" cy="1005840"/>
          </a:xfrm>
          <a:prstGeom prst="rect">
            <a:avLst/>
          </a:prstGeom>
          <a:noFill/>
        </p:spPr>
        <p:txBody>
          <a:bodyPr wrap="square" lIns="18288" rIns="18288" tIns="18288" bIns="18288">
            <a:spAutoFit/>
          </a:bodyPr>
          <a:lstStyle/>
          <a:p>
            <a:pPr>
              <a:spcAft>
                <a:spcPts val="700"/>
              </a:spcAft>
              <a:defRPr sz="1800" b="0">
                <a:solidFill>
                  <a:srgbClr val="132434"/>
                </a:solidFill>
                <a:latin typeface="DejaVu Sans"/>
              </a:defRPr>
            </a:pPr>
            <a:r>
              <a:t>Detroit children with parent-reported unmet demand for afterschool programs.</a:t>
            </a:r>
          </a:p>
        </p:txBody>
      </p:sp>
      <p:sp>
        <p:nvSpPr>
          <p:cNvPr id="6" name="TextBox 5"/>
          <p:cNvSpPr txBox="1"/>
          <p:nvPr/>
        </p:nvSpPr>
        <p:spPr>
          <a:xfrm>
            <a:off x="6473952" y="2075688"/>
            <a:ext cx="5029200" cy="914400"/>
          </a:xfrm>
          <a:prstGeom prst="rect">
            <a:avLst/>
          </a:prstGeom>
          <a:noFill/>
        </p:spPr>
        <p:txBody>
          <a:bodyPr wrap="square" lIns="18288" rIns="18288" tIns="18288" bIns="18288">
            <a:spAutoFit/>
          </a:bodyPr>
          <a:lstStyle/>
          <a:p>
            <a:pPr>
              <a:spcAft>
                <a:spcPts val="700"/>
              </a:spcAft>
              <a:defRPr sz="4300" b="1">
                <a:solidFill>
                  <a:srgbClr val="FF5326"/>
                </a:solidFill>
                <a:latin typeface="DejaVu Sans"/>
              </a:defRPr>
            </a:pPr>
            <a:r>
              <a:t>64%</a:t>
            </a:r>
          </a:p>
        </p:txBody>
      </p:sp>
      <p:sp>
        <p:nvSpPr>
          <p:cNvPr id="7" name="TextBox 6"/>
          <p:cNvSpPr txBox="1"/>
          <p:nvPr/>
        </p:nvSpPr>
        <p:spPr>
          <a:xfrm>
            <a:off x="6473952" y="2916936"/>
            <a:ext cx="5029200" cy="960120"/>
          </a:xfrm>
          <a:prstGeom prst="rect">
            <a:avLst/>
          </a:prstGeom>
          <a:noFill/>
        </p:spPr>
        <p:txBody>
          <a:bodyPr wrap="square" lIns="18288" rIns="18288" tIns="18288" bIns="18288">
            <a:spAutoFit/>
          </a:bodyPr>
          <a:lstStyle/>
          <a:p>
            <a:pPr>
              <a:spcAft>
                <a:spcPts val="700"/>
              </a:spcAft>
              <a:defRPr sz="1800" b="0">
                <a:solidFill>
                  <a:srgbClr val="132434"/>
                </a:solidFill>
                <a:latin typeface="DejaVu Sans"/>
              </a:defRPr>
            </a:pPr>
            <a:r>
              <a:t>of surveyed Detroit parents cite inconvenient locations as a barrier.</a:t>
            </a:r>
          </a:p>
        </p:txBody>
      </p:sp>
      <p:sp>
        <p:nvSpPr>
          <p:cNvPr id="8" name="Rectangle 7"/>
          <p:cNvSpPr/>
          <p:nvPr/>
        </p:nvSpPr>
        <p:spPr>
          <a:xfrm>
            <a:off x="658368" y="4498848"/>
            <a:ext cx="10744200" cy="20116"/>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4791456"/>
            <a:ext cx="10424160" cy="1024128"/>
          </a:xfrm>
          <a:prstGeom prst="rect">
            <a:avLst/>
          </a:prstGeom>
          <a:noFill/>
        </p:spPr>
        <p:txBody>
          <a:bodyPr wrap="square" lIns="18288" rIns="18288" tIns="18288" bIns="18288">
            <a:spAutoFit/>
          </a:bodyPr>
          <a:lstStyle/>
          <a:p>
            <a:pPr>
              <a:spcAft>
                <a:spcPts val="700"/>
              </a:spcAft>
              <a:defRPr sz="1800" b="0">
                <a:solidFill>
                  <a:srgbClr val="132434"/>
                </a:solidFill>
                <a:latin typeface="DejaVu Sans"/>
              </a:defRPr>
            </a:pPr>
            <a:r>
              <a:t>Families need current details on eligibility, cost, location, schedule, and the person to contact. Providers need a reliable way to keep those details current.</a:t>
            </a:r>
          </a:p>
        </p:txBody>
      </p:sp>
      <p:sp>
        <p:nvSpPr>
          <p:cNvPr id="10" name="TextBox 9"/>
          <p:cNvSpPr txBox="1"/>
          <p:nvPr/>
        </p:nvSpPr>
        <p:spPr>
          <a:xfrm>
            <a:off x="658368" y="6464808"/>
            <a:ext cx="10058400" cy="219456"/>
          </a:xfrm>
          <a:prstGeom prst="rect">
            <a:avLst/>
          </a:prstGeom>
          <a:noFill/>
        </p:spPr>
        <p:txBody>
          <a:bodyPr wrap="square" lIns="18288" rIns="18288" tIns="18288" bIns="18288">
            <a:spAutoFit/>
          </a:bodyPr>
          <a:lstStyle/>
          <a:p>
            <a:pPr>
              <a:spcAft>
                <a:spcPts val="700"/>
              </a:spcAft>
              <a:defRPr sz="800" b="0">
                <a:solidFill>
                  <a:srgbClr val="5A6B78"/>
                </a:solidFill>
                <a:latin typeface="DejaVu Sans"/>
              </a:defRPr>
            </a:pPr>
            <a:r>
              <a:t>Sources: Detroit After 3PM (March 2026); YDRC Detroit OST Landscape Analysis (2026). Figures describe broader demand and access barriers.</a:t>
            </a:r>
          </a:p>
        </p:txBody>
      </p:sp>
      <p:sp>
        <p:nvSpPr>
          <p:cNvPr id="11" name="TextBox 10"/>
          <p:cNvSpPr txBox="1"/>
          <p:nvPr/>
        </p:nvSpPr>
        <p:spPr>
          <a:xfrm>
            <a:off x="11109960" y="6437376"/>
            <a:ext cx="411480" cy="256032"/>
          </a:xfrm>
          <a:prstGeom prst="rect">
            <a:avLst/>
          </a:prstGeom>
          <a:noFill/>
        </p:spPr>
        <p:txBody>
          <a:bodyPr wrap="square" lIns="18288" rIns="18288" tIns="18288" bIns="18288">
            <a:spAutoFit/>
          </a:bodyPr>
          <a:lstStyle/>
          <a:p>
            <a:pPr algn="r">
              <a:spcAft>
                <a:spcPts val="700"/>
              </a:spcAft>
              <a:defRPr sz="900" b="1">
                <a:solidFill>
                  <a:srgbClr val="5A6B78"/>
                </a:solidFill>
                <a:latin typeface="DejaVu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D34"/>
        </a:solidFill>
        <a:effectLst/>
      </p:bgPr>
    </p:bg>
    <p:spTree>
      <p:nvGrpSpPr>
        <p:cNvPr id="1" name=""/>
        <p:cNvGrpSpPr/>
        <p:nvPr/>
      </p:nvGrpSpPr>
      <p:grpSpPr/>
      <p:sp>
        <p:nvSpPr>
          <p:cNvPr id="2" name="TextBox 1"/>
          <p:cNvSpPr txBox="1"/>
          <p:nvPr/>
        </p:nvSpPr>
        <p:spPr>
          <a:xfrm>
            <a:off x="640080" y="347472"/>
            <a:ext cx="10058400" cy="292608"/>
          </a:xfrm>
          <a:prstGeom prst="rect">
            <a:avLst/>
          </a:prstGeom>
          <a:noFill/>
        </p:spPr>
        <p:txBody>
          <a:bodyPr wrap="square" lIns="18288" rIns="18288" tIns="18288" bIns="18288">
            <a:spAutoFit/>
          </a:bodyPr>
          <a:lstStyle/>
          <a:p>
            <a:pPr>
              <a:spcAft>
                <a:spcPts val="700"/>
              </a:spcAft>
              <a:defRPr sz="1100" b="1">
                <a:solidFill>
                  <a:srgbClr val="FF5326"/>
                </a:solidFill>
                <a:latin typeface="DejaVu Sans"/>
              </a:defRPr>
            </a:pPr>
            <a:r>
              <a:t>THE PRODUCT</a:t>
            </a:r>
          </a:p>
        </p:txBody>
      </p:sp>
      <p:sp>
        <p:nvSpPr>
          <p:cNvPr id="3" name="TextBox 2"/>
          <p:cNvSpPr txBox="1"/>
          <p:nvPr/>
        </p:nvSpPr>
        <p:spPr>
          <a:xfrm>
            <a:off x="640080" y="960120"/>
            <a:ext cx="10927080" cy="1024128"/>
          </a:xfrm>
          <a:prstGeom prst="rect">
            <a:avLst/>
          </a:prstGeom>
          <a:noFill/>
        </p:spPr>
        <p:txBody>
          <a:bodyPr wrap="square" lIns="18288" rIns="18288" tIns="18288" bIns="18288">
            <a:spAutoFit/>
          </a:bodyPr>
          <a:lstStyle/>
          <a:p>
            <a:pPr>
              <a:spcAft>
                <a:spcPts val="700"/>
              </a:spcAft>
              <a:defRPr sz="3400" b="1">
                <a:solidFill>
                  <a:srgbClr val="FFFFFF"/>
                </a:solidFill>
                <a:latin typeface="DejaVu Sans"/>
              </a:defRPr>
            </a:pPr>
            <a:r>
              <a:t>One place to discover, decide, and act.</a:t>
            </a:r>
          </a:p>
        </p:txBody>
      </p:sp>
      <p:sp>
        <p:nvSpPr>
          <p:cNvPr id="4" name="TextBox 3"/>
          <p:cNvSpPr txBox="1"/>
          <p:nvPr/>
        </p:nvSpPr>
        <p:spPr>
          <a:xfrm>
            <a:off x="658368" y="2240280"/>
            <a:ext cx="621792" cy="457200"/>
          </a:xfrm>
          <a:prstGeom prst="rect">
            <a:avLst/>
          </a:prstGeom>
          <a:noFill/>
        </p:spPr>
        <p:txBody>
          <a:bodyPr wrap="square" lIns="18288" rIns="18288" tIns="18288" bIns="18288">
            <a:spAutoFit/>
          </a:bodyPr>
          <a:lstStyle/>
          <a:p>
            <a:pPr>
              <a:spcAft>
                <a:spcPts val="700"/>
              </a:spcAft>
              <a:defRPr sz="1500" b="1">
                <a:solidFill>
                  <a:srgbClr val="FF5326"/>
                </a:solidFill>
                <a:latin typeface="DejaVu Sans"/>
              </a:defRPr>
            </a:pPr>
            <a:r>
              <a:t>01</a:t>
            </a:r>
          </a:p>
        </p:txBody>
      </p:sp>
      <p:sp>
        <p:nvSpPr>
          <p:cNvPr id="5" name="TextBox 4"/>
          <p:cNvSpPr txBox="1"/>
          <p:nvPr/>
        </p:nvSpPr>
        <p:spPr>
          <a:xfrm>
            <a:off x="1435608" y="2221992"/>
            <a:ext cx="2057400" cy="475488"/>
          </a:xfrm>
          <a:prstGeom prst="rect">
            <a:avLst/>
          </a:prstGeom>
          <a:noFill/>
        </p:spPr>
        <p:txBody>
          <a:bodyPr wrap="square" lIns="18288" rIns="18288" tIns="18288" bIns="18288">
            <a:spAutoFit/>
          </a:bodyPr>
          <a:lstStyle/>
          <a:p>
            <a:pPr>
              <a:spcAft>
                <a:spcPts val="700"/>
              </a:spcAft>
              <a:defRPr sz="2200" b="1">
                <a:solidFill>
                  <a:srgbClr val="FFFFFF"/>
                </a:solidFill>
                <a:latin typeface="DejaVu Sans"/>
              </a:defRPr>
            </a:pPr>
            <a:r>
              <a:t>Discover</a:t>
            </a:r>
          </a:p>
        </p:txBody>
      </p:sp>
      <p:sp>
        <p:nvSpPr>
          <p:cNvPr id="6" name="TextBox 5"/>
          <p:cNvSpPr txBox="1"/>
          <p:nvPr/>
        </p:nvSpPr>
        <p:spPr>
          <a:xfrm>
            <a:off x="3749039" y="2258568"/>
            <a:ext cx="7132320" cy="603504"/>
          </a:xfrm>
          <a:prstGeom prst="rect">
            <a:avLst/>
          </a:prstGeom>
          <a:noFill/>
        </p:spPr>
        <p:txBody>
          <a:bodyPr wrap="square" lIns="18288" rIns="18288" tIns="18288" bIns="18288">
            <a:spAutoFit/>
          </a:bodyPr>
          <a:lstStyle/>
          <a:p>
            <a:pPr>
              <a:spcAft>
                <a:spcPts val="700"/>
              </a:spcAft>
              <a:defRPr sz="1800" b="0">
                <a:solidFill>
                  <a:srgbClr val="DAE1E5"/>
                </a:solidFill>
                <a:latin typeface="DejaVu Sans"/>
              </a:defRPr>
            </a:pPr>
            <a:r>
              <a:t>Find opportunities by age, interest, and location.</a:t>
            </a:r>
          </a:p>
        </p:txBody>
      </p:sp>
      <p:sp>
        <p:nvSpPr>
          <p:cNvPr id="7" name="Rectangle 6"/>
          <p:cNvSpPr/>
          <p:nvPr/>
        </p:nvSpPr>
        <p:spPr>
          <a:xfrm>
            <a:off x="658368" y="3054096"/>
            <a:ext cx="10744200" cy="13716"/>
          </a:xfrm>
          <a:prstGeom prst="rect">
            <a:avLst/>
          </a:prstGeom>
          <a:solidFill>
            <a:srgbClr val="0C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37560"/>
            <a:ext cx="621792" cy="457200"/>
          </a:xfrm>
          <a:prstGeom prst="rect">
            <a:avLst/>
          </a:prstGeom>
          <a:noFill/>
        </p:spPr>
        <p:txBody>
          <a:bodyPr wrap="square" lIns="18288" rIns="18288" tIns="18288" bIns="18288">
            <a:spAutoFit/>
          </a:bodyPr>
          <a:lstStyle/>
          <a:p>
            <a:pPr>
              <a:spcAft>
                <a:spcPts val="700"/>
              </a:spcAft>
              <a:defRPr sz="1500" b="1">
                <a:solidFill>
                  <a:srgbClr val="FF5326"/>
                </a:solidFill>
                <a:latin typeface="DejaVu Sans"/>
              </a:defRPr>
            </a:pPr>
            <a:r>
              <a:t>02</a:t>
            </a:r>
          </a:p>
        </p:txBody>
      </p:sp>
      <p:sp>
        <p:nvSpPr>
          <p:cNvPr id="9" name="TextBox 8"/>
          <p:cNvSpPr txBox="1"/>
          <p:nvPr/>
        </p:nvSpPr>
        <p:spPr>
          <a:xfrm>
            <a:off x="1435608" y="3319272"/>
            <a:ext cx="2057400" cy="475488"/>
          </a:xfrm>
          <a:prstGeom prst="rect">
            <a:avLst/>
          </a:prstGeom>
          <a:noFill/>
        </p:spPr>
        <p:txBody>
          <a:bodyPr wrap="square" lIns="18288" rIns="18288" tIns="18288" bIns="18288">
            <a:spAutoFit/>
          </a:bodyPr>
          <a:lstStyle/>
          <a:p>
            <a:pPr>
              <a:spcAft>
                <a:spcPts val="700"/>
              </a:spcAft>
              <a:defRPr sz="2200" b="1">
                <a:solidFill>
                  <a:srgbClr val="FFFFFF"/>
                </a:solidFill>
                <a:latin typeface="DejaVu Sans"/>
              </a:defRPr>
            </a:pPr>
            <a:r>
              <a:t>Decide</a:t>
            </a:r>
          </a:p>
        </p:txBody>
      </p:sp>
      <p:sp>
        <p:nvSpPr>
          <p:cNvPr id="10" name="TextBox 9"/>
          <p:cNvSpPr txBox="1"/>
          <p:nvPr/>
        </p:nvSpPr>
        <p:spPr>
          <a:xfrm>
            <a:off x="3749039" y="3355848"/>
            <a:ext cx="7132320" cy="603504"/>
          </a:xfrm>
          <a:prstGeom prst="rect">
            <a:avLst/>
          </a:prstGeom>
          <a:noFill/>
        </p:spPr>
        <p:txBody>
          <a:bodyPr wrap="square" lIns="18288" rIns="18288" tIns="18288" bIns="18288">
            <a:spAutoFit/>
          </a:bodyPr>
          <a:lstStyle/>
          <a:p>
            <a:pPr>
              <a:spcAft>
                <a:spcPts val="700"/>
              </a:spcAft>
              <a:defRPr sz="1800" b="0">
                <a:solidFill>
                  <a:srgbClr val="DAE1E5"/>
                </a:solidFill>
                <a:latin typeface="DejaVu Sans"/>
              </a:defRPr>
            </a:pPr>
            <a:r>
              <a:t>Check eligibility, cost, schedule, and deadlines.</a:t>
            </a:r>
          </a:p>
        </p:txBody>
      </p:sp>
      <p:sp>
        <p:nvSpPr>
          <p:cNvPr id="11" name="Rectangle 10"/>
          <p:cNvSpPr/>
          <p:nvPr/>
        </p:nvSpPr>
        <p:spPr>
          <a:xfrm>
            <a:off x="658368" y="4151376"/>
            <a:ext cx="10744200" cy="13716"/>
          </a:xfrm>
          <a:prstGeom prst="rect">
            <a:avLst/>
          </a:prstGeom>
          <a:solidFill>
            <a:srgbClr val="0C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434840"/>
            <a:ext cx="621792" cy="457200"/>
          </a:xfrm>
          <a:prstGeom prst="rect">
            <a:avLst/>
          </a:prstGeom>
          <a:noFill/>
        </p:spPr>
        <p:txBody>
          <a:bodyPr wrap="square" lIns="18288" rIns="18288" tIns="18288" bIns="18288">
            <a:spAutoFit/>
          </a:bodyPr>
          <a:lstStyle/>
          <a:p>
            <a:pPr>
              <a:spcAft>
                <a:spcPts val="700"/>
              </a:spcAft>
              <a:defRPr sz="1500" b="1">
                <a:solidFill>
                  <a:srgbClr val="FF5326"/>
                </a:solidFill>
                <a:latin typeface="DejaVu Sans"/>
              </a:defRPr>
            </a:pPr>
            <a:r>
              <a:t>03</a:t>
            </a:r>
          </a:p>
        </p:txBody>
      </p:sp>
      <p:sp>
        <p:nvSpPr>
          <p:cNvPr id="13" name="TextBox 12"/>
          <p:cNvSpPr txBox="1"/>
          <p:nvPr/>
        </p:nvSpPr>
        <p:spPr>
          <a:xfrm>
            <a:off x="1435608" y="4416552"/>
            <a:ext cx="2057400" cy="475488"/>
          </a:xfrm>
          <a:prstGeom prst="rect">
            <a:avLst/>
          </a:prstGeom>
          <a:noFill/>
        </p:spPr>
        <p:txBody>
          <a:bodyPr wrap="square" lIns="18288" rIns="18288" tIns="18288" bIns="18288">
            <a:spAutoFit/>
          </a:bodyPr>
          <a:lstStyle/>
          <a:p>
            <a:pPr>
              <a:spcAft>
                <a:spcPts val="700"/>
              </a:spcAft>
              <a:defRPr sz="2200" b="1">
                <a:solidFill>
                  <a:srgbClr val="FFFFFF"/>
                </a:solidFill>
                <a:latin typeface="DejaVu Sans"/>
              </a:defRPr>
            </a:pPr>
            <a:r>
              <a:t>Act</a:t>
            </a:r>
          </a:p>
        </p:txBody>
      </p:sp>
      <p:sp>
        <p:nvSpPr>
          <p:cNvPr id="14" name="TextBox 13"/>
          <p:cNvSpPr txBox="1"/>
          <p:nvPr/>
        </p:nvSpPr>
        <p:spPr>
          <a:xfrm>
            <a:off x="3749039" y="4453127"/>
            <a:ext cx="7132320" cy="603504"/>
          </a:xfrm>
          <a:prstGeom prst="rect">
            <a:avLst/>
          </a:prstGeom>
          <a:noFill/>
        </p:spPr>
        <p:txBody>
          <a:bodyPr wrap="square" lIns="18288" rIns="18288" tIns="18288" bIns="18288">
            <a:spAutoFit/>
          </a:bodyPr>
          <a:lstStyle/>
          <a:p>
            <a:pPr>
              <a:spcAft>
                <a:spcPts val="700"/>
              </a:spcAft>
              <a:defRPr sz="1800" b="0">
                <a:solidFill>
                  <a:srgbClr val="DAE1E5"/>
                </a:solidFill>
                <a:latin typeface="DejaVu Sans"/>
              </a:defRPr>
            </a:pPr>
            <a:r>
              <a:t>Save the listing and connect with its provider.</a:t>
            </a:r>
          </a:p>
        </p:txBody>
      </p:sp>
      <p:sp>
        <p:nvSpPr>
          <p:cNvPr id="15" name="Rectangle 14"/>
          <p:cNvSpPr/>
          <p:nvPr/>
        </p:nvSpPr>
        <p:spPr>
          <a:xfrm>
            <a:off x="658368" y="5248655"/>
            <a:ext cx="10744200" cy="13716"/>
          </a:xfrm>
          <a:prstGeom prst="rect">
            <a:avLst/>
          </a:prstGeom>
          <a:solidFill>
            <a:srgbClr val="0C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6464808"/>
            <a:ext cx="10058400" cy="219456"/>
          </a:xfrm>
          <a:prstGeom prst="rect">
            <a:avLst/>
          </a:prstGeom>
          <a:noFill/>
        </p:spPr>
        <p:txBody>
          <a:bodyPr wrap="square" lIns="18288" rIns="18288" tIns="18288" bIns="18288">
            <a:spAutoFit/>
          </a:bodyPr>
          <a:lstStyle/>
          <a:p>
            <a:pPr>
              <a:spcAft>
                <a:spcPts val="700"/>
              </a:spcAft>
              <a:defRPr sz="800" b="0">
                <a:solidFill>
                  <a:srgbClr val="DAE1E5"/>
                </a:solidFill>
                <a:latin typeface="DejaVu Sans"/>
              </a:defRPr>
            </a:pPr>
            <a:r>
              <a:t>OPPORTUNITY 313</a:t>
            </a:r>
          </a:p>
        </p:txBody>
      </p:sp>
      <p:sp>
        <p:nvSpPr>
          <p:cNvPr id="17" name="TextBox 16"/>
          <p:cNvSpPr txBox="1"/>
          <p:nvPr/>
        </p:nvSpPr>
        <p:spPr>
          <a:xfrm>
            <a:off x="11109960" y="6437376"/>
            <a:ext cx="411480" cy="256032"/>
          </a:xfrm>
          <a:prstGeom prst="rect">
            <a:avLst/>
          </a:prstGeom>
          <a:noFill/>
        </p:spPr>
        <p:txBody>
          <a:bodyPr wrap="square" lIns="18288" rIns="18288" tIns="18288" bIns="18288">
            <a:spAutoFit/>
          </a:bodyPr>
          <a:lstStyle/>
          <a:p>
            <a:pPr algn="r">
              <a:spcAft>
                <a:spcPts val="700"/>
              </a:spcAft>
              <a:defRPr sz="900" b="1">
                <a:solidFill>
                  <a:srgbClr val="DAE1E5"/>
                </a:solidFill>
                <a:latin typeface="DejaVu San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D34"/>
        </a:solidFill>
        <a:effectLst/>
      </p:bgPr>
    </p:bg>
    <p:spTree>
      <p:nvGrpSpPr>
        <p:cNvPr id="1" name=""/>
        <p:cNvGrpSpPr/>
        <p:nvPr/>
      </p:nvGrpSpPr>
      <p:grpSpPr/>
      <p:sp>
        <p:nvSpPr>
          <p:cNvPr id="2" name="TextBox 1"/>
          <p:cNvSpPr txBox="1"/>
          <p:nvPr/>
        </p:nvSpPr>
        <p:spPr>
          <a:xfrm>
            <a:off x="640080" y="347472"/>
            <a:ext cx="10058400" cy="292608"/>
          </a:xfrm>
          <a:prstGeom prst="rect">
            <a:avLst/>
          </a:prstGeom>
          <a:noFill/>
        </p:spPr>
        <p:txBody>
          <a:bodyPr wrap="square" lIns="18288" rIns="18288" tIns="18288" bIns="18288">
            <a:spAutoFit/>
          </a:bodyPr>
          <a:lstStyle/>
          <a:p>
            <a:pPr>
              <a:spcAft>
                <a:spcPts val="700"/>
              </a:spcAft>
              <a:defRPr sz="1100" b="1">
                <a:solidFill>
                  <a:srgbClr val="FF5326"/>
                </a:solidFill>
                <a:latin typeface="DejaVu Sans"/>
              </a:defRPr>
            </a:pPr>
            <a:r>
              <a:t>CURRENT IOS MVP</a:t>
            </a:r>
          </a:p>
        </p:txBody>
      </p:sp>
      <p:sp>
        <p:nvSpPr>
          <p:cNvPr id="3" name="TextBox 2"/>
          <p:cNvSpPr txBox="1"/>
          <p:nvPr/>
        </p:nvSpPr>
        <p:spPr>
          <a:xfrm>
            <a:off x="640080" y="777240"/>
            <a:ext cx="10972800" cy="621792"/>
          </a:xfrm>
          <a:prstGeom prst="rect">
            <a:avLst/>
          </a:prstGeom>
          <a:noFill/>
        </p:spPr>
        <p:txBody>
          <a:bodyPr wrap="square" lIns="18288" rIns="18288" tIns="18288" bIns="18288">
            <a:spAutoFit/>
          </a:bodyPr>
          <a:lstStyle/>
          <a:p>
            <a:pPr>
              <a:spcAft>
                <a:spcPts val="700"/>
              </a:spcAft>
              <a:defRPr sz="2900" b="1">
                <a:solidFill>
                  <a:srgbClr val="FFFFFF"/>
                </a:solidFill>
                <a:latin typeface="DejaVu Sans"/>
              </a:defRPr>
            </a:pPr>
            <a:r>
              <a:t>Built screens, ready for a Detroit pilot.</a:t>
            </a:r>
          </a:p>
        </p:txBody>
      </p:sp>
      <p:pic>
        <p:nvPicPr>
          <p:cNvPr id="4" name="Picture 3" descr="phone1.png"/>
          <p:cNvPicPr>
            <a:picLocks noChangeAspect="1"/>
          </p:cNvPicPr>
          <p:nvPr/>
        </p:nvPicPr>
        <p:blipFill>
          <a:blip r:embed="rId2"/>
          <a:stretch>
            <a:fillRect/>
          </a:stretch>
        </p:blipFill>
        <p:spPr>
          <a:xfrm>
            <a:off x="1024128" y="1481328"/>
            <a:ext cx="2893712" cy="4343400"/>
          </a:xfrm>
          <a:prstGeom prst="rect">
            <a:avLst/>
          </a:prstGeom>
        </p:spPr>
      </p:pic>
      <p:sp>
        <p:nvSpPr>
          <p:cNvPr id="5" name="TextBox 4"/>
          <p:cNvSpPr txBox="1"/>
          <p:nvPr/>
        </p:nvSpPr>
        <p:spPr>
          <a:xfrm>
            <a:off x="758952" y="5925312"/>
            <a:ext cx="3090672" cy="310896"/>
          </a:xfrm>
          <a:prstGeom prst="rect">
            <a:avLst/>
          </a:prstGeom>
          <a:noFill/>
        </p:spPr>
        <p:txBody>
          <a:bodyPr wrap="square" lIns="18288" rIns="18288" tIns="18288" bIns="18288">
            <a:spAutoFit/>
          </a:bodyPr>
          <a:lstStyle/>
          <a:p>
            <a:pPr algn="ctr">
              <a:spcAft>
                <a:spcPts val="700"/>
              </a:spcAft>
              <a:defRPr sz="1400" b="1">
                <a:solidFill>
                  <a:srgbClr val="DAE1E5"/>
                </a:solidFill>
                <a:latin typeface="DejaVu Sans"/>
              </a:defRPr>
            </a:pPr>
            <a:r>
              <a:t>Sign in</a:t>
            </a:r>
          </a:p>
        </p:txBody>
      </p:sp>
      <p:pic>
        <p:nvPicPr>
          <p:cNvPr id="6" name="Picture 5" descr="phone2.png"/>
          <p:cNvPicPr>
            <a:picLocks noChangeAspect="1"/>
          </p:cNvPicPr>
          <p:nvPr/>
        </p:nvPicPr>
        <p:blipFill>
          <a:blip r:embed="rId3"/>
          <a:stretch>
            <a:fillRect/>
          </a:stretch>
        </p:blipFill>
        <p:spPr>
          <a:xfrm>
            <a:off x="4791456" y="1481328"/>
            <a:ext cx="2893712" cy="4343400"/>
          </a:xfrm>
          <a:prstGeom prst="rect">
            <a:avLst/>
          </a:prstGeom>
        </p:spPr>
      </p:pic>
      <p:sp>
        <p:nvSpPr>
          <p:cNvPr id="7" name="TextBox 6"/>
          <p:cNvSpPr txBox="1"/>
          <p:nvPr/>
        </p:nvSpPr>
        <p:spPr>
          <a:xfrm>
            <a:off x="4526280" y="5925312"/>
            <a:ext cx="3090672" cy="310896"/>
          </a:xfrm>
          <a:prstGeom prst="rect">
            <a:avLst/>
          </a:prstGeom>
          <a:noFill/>
        </p:spPr>
        <p:txBody>
          <a:bodyPr wrap="square" lIns="18288" rIns="18288" tIns="18288" bIns="18288">
            <a:spAutoFit/>
          </a:bodyPr>
          <a:lstStyle/>
          <a:p>
            <a:pPr algn="ctr">
              <a:spcAft>
                <a:spcPts val="700"/>
              </a:spcAft>
              <a:defRPr sz="1400" b="1">
                <a:solidFill>
                  <a:srgbClr val="DAE1E5"/>
                </a:solidFill>
                <a:latin typeface="DejaVu Sans"/>
              </a:defRPr>
            </a:pPr>
            <a:r>
              <a:t>Parent dashboard</a:t>
            </a:r>
          </a:p>
        </p:txBody>
      </p:sp>
      <p:pic>
        <p:nvPicPr>
          <p:cNvPr id="8" name="Picture 7" descr="phone3.png"/>
          <p:cNvPicPr>
            <a:picLocks noChangeAspect="1"/>
          </p:cNvPicPr>
          <p:nvPr/>
        </p:nvPicPr>
        <p:blipFill>
          <a:blip r:embed="rId4"/>
          <a:stretch>
            <a:fillRect/>
          </a:stretch>
        </p:blipFill>
        <p:spPr>
          <a:xfrm>
            <a:off x="8558784" y="1481328"/>
            <a:ext cx="2893712" cy="4343400"/>
          </a:xfrm>
          <a:prstGeom prst="rect">
            <a:avLst/>
          </a:prstGeom>
        </p:spPr>
      </p:pic>
      <p:sp>
        <p:nvSpPr>
          <p:cNvPr id="9" name="TextBox 8"/>
          <p:cNvSpPr txBox="1"/>
          <p:nvPr/>
        </p:nvSpPr>
        <p:spPr>
          <a:xfrm>
            <a:off x="8293608" y="5925312"/>
            <a:ext cx="3090672" cy="310896"/>
          </a:xfrm>
          <a:prstGeom prst="rect">
            <a:avLst/>
          </a:prstGeom>
          <a:noFill/>
        </p:spPr>
        <p:txBody>
          <a:bodyPr wrap="square" lIns="18288" rIns="18288" tIns="18288" bIns="18288">
            <a:spAutoFit/>
          </a:bodyPr>
          <a:lstStyle/>
          <a:p>
            <a:pPr algn="ctr">
              <a:spcAft>
                <a:spcPts val="700"/>
              </a:spcAft>
              <a:defRPr sz="1400" b="1">
                <a:solidFill>
                  <a:srgbClr val="DAE1E5"/>
                </a:solidFill>
                <a:latin typeface="DejaVu Sans"/>
              </a:defRPr>
            </a:pPr>
            <a:r>
              <a:t>Discover</a:t>
            </a:r>
          </a:p>
        </p:txBody>
      </p:sp>
      <p:sp>
        <p:nvSpPr>
          <p:cNvPr id="10" name="TextBox 9"/>
          <p:cNvSpPr txBox="1"/>
          <p:nvPr/>
        </p:nvSpPr>
        <p:spPr>
          <a:xfrm>
            <a:off x="658368" y="6464808"/>
            <a:ext cx="10058400" cy="219456"/>
          </a:xfrm>
          <a:prstGeom prst="rect">
            <a:avLst/>
          </a:prstGeom>
          <a:noFill/>
        </p:spPr>
        <p:txBody>
          <a:bodyPr wrap="square" lIns="18288" rIns="18288" tIns="18288" bIns="18288">
            <a:spAutoFit/>
          </a:bodyPr>
          <a:lstStyle/>
          <a:p>
            <a:pPr>
              <a:spcAft>
                <a:spcPts val="700"/>
              </a:spcAft>
              <a:defRPr sz="800" b="0">
                <a:solidFill>
                  <a:srgbClr val="DAE1E5"/>
                </a:solidFill>
                <a:latin typeface="DejaVu Sans"/>
              </a:defRPr>
            </a:pPr>
            <a:r>
              <a:t>OPPORTUNITY 313</a:t>
            </a:r>
          </a:p>
        </p:txBody>
      </p:sp>
      <p:sp>
        <p:nvSpPr>
          <p:cNvPr id="11" name="TextBox 10"/>
          <p:cNvSpPr txBox="1"/>
          <p:nvPr/>
        </p:nvSpPr>
        <p:spPr>
          <a:xfrm>
            <a:off x="11109960" y="6437376"/>
            <a:ext cx="411480" cy="256032"/>
          </a:xfrm>
          <a:prstGeom prst="rect">
            <a:avLst/>
          </a:prstGeom>
          <a:noFill/>
        </p:spPr>
        <p:txBody>
          <a:bodyPr wrap="square" lIns="18288" rIns="18288" tIns="18288" bIns="18288">
            <a:spAutoFit/>
          </a:bodyPr>
          <a:lstStyle/>
          <a:p>
            <a:pPr algn="r">
              <a:spcAft>
                <a:spcPts val="700"/>
              </a:spcAft>
              <a:defRPr sz="900" b="1">
                <a:solidFill>
                  <a:srgbClr val="DAE1E5"/>
                </a:solidFill>
                <a:latin typeface="DejaVu San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40080" y="347472"/>
            <a:ext cx="10058400" cy="292608"/>
          </a:xfrm>
          <a:prstGeom prst="rect">
            <a:avLst/>
          </a:prstGeom>
          <a:noFill/>
        </p:spPr>
        <p:txBody>
          <a:bodyPr wrap="square" lIns="18288" rIns="18288" tIns="18288" bIns="18288">
            <a:spAutoFit/>
          </a:bodyPr>
          <a:lstStyle/>
          <a:p>
            <a:pPr>
              <a:spcAft>
                <a:spcPts val="700"/>
              </a:spcAft>
              <a:defRPr sz="1100" b="1">
                <a:solidFill>
                  <a:srgbClr val="5A6B78"/>
                </a:solidFill>
                <a:latin typeface="DejaVu Sans"/>
              </a:defRPr>
            </a:pPr>
            <a:r>
              <a:t>HOW THE PLATFORM STAYS USEFUL</a:t>
            </a:r>
          </a:p>
        </p:txBody>
      </p:sp>
      <p:sp>
        <p:nvSpPr>
          <p:cNvPr id="3" name="TextBox 2"/>
          <p:cNvSpPr txBox="1"/>
          <p:nvPr/>
        </p:nvSpPr>
        <p:spPr>
          <a:xfrm>
            <a:off x="640080" y="960120"/>
            <a:ext cx="10927080" cy="1024128"/>
          </a:xfrm>
          <a:prstGeom prst="rect">
            <a:avLst/>
          </a:prstGeom>
          <a:noFill/>
        </p:spPr>
        <p:txBody>
          <a:bodyPr wrap="square" lIns="18288" rIns="18288" tIns="18288" bIns="18288">
            <a:spAutoFit/>
          </a:bodyPr>
          <a:lstStyle/>
          <a:p>
            <a:pPr>
              <a:spcAft>
                <a:spcPts val="700"/>
              </a:spcAft>
              <a:defRPr sz="3400" b="1">
                <a:solidFill>
                  <a:srgbClr val="132434"/>
                </a:solidFill>
                <a:latin typeface="DejaVu Sans"/>
              </a:defRPr>
            </a:pPr>
            <a:r>
              <a:t>The listing has an owner and a review path.</a:t>
            </a:r>
          </a:p>
        </p:txBody>
      </p:sp>
      <p:sp>
        <p:nvSpPr>
          <p:cNvPr id="4" name="TextBox 3"/>
          <p:cNvSpPr txBox="1"/>
          <p:nvPr/>
        </p:nvSpPr>
        <p:spPr>
          <a:xfrm>
            <a:off x="658368" y="2221992"/>
            <a:ext cx="3154680" cy="457200"/>
          </a:xfrm>
          <a:prstGeom prst="rect">
            <a:avLst/>
          </a:prstGeom>
          <a:noFill/>
        </p:spPr>
        <p:txBody>
          <a:bodyPr wrap="square" lIns="18288" rIns="18288" tIns="18288" bIns="18288">
            <a:spAutoFit/>
          </a:bodyPr>
          <a:lstStyle/>
          <a:p>
            <a:pPr>
              <a:spcAft>
                <a:spcPts val="700"/>
              </a:spcAft>
              <a:defRPr sz="2300" b="1">
                <a:solidFill>
                  <a:srgbClr val="132434"/>
                </a:solidFill>
                <a:latin typeface="DejaVu Sans"/>
              </a:defRPr>
            </a:pPr>
            <a:r>
              <a:t>Providers submit</a:t>
            </a:r>
          </a:p>
        </p:txBody>
      </p:sp>
      <p:sp>
        <p:nvSpPr>
          <p:cNvPr id="5" name="TextBox 4"/>
          <p:cNvSpPr txBox="1"/>
          <p:nvPr/>
        </p:nvSpPr>
        <p:spPr>
          <a:xfrm>
            <a:off x="658368" y="2834640"/>
            <a:ext cx="3200400" cy="1325880"/>
          </a:xfrm>
          <a:prstGeom prst="rect">
            <a:avLst/>
          </a:prstGeom>
          <a:noFill/>
        </p:spPr>
        <p:txBody>
          <a:bodyPr wrap="square" lIns="18288" rIns="18288" tIns="18288" bIns="18288">
            <a:spAutoFit/>
          </a:bodyPr>
          <a:lstStyle/>
          <a:p>
            <a:pPr>
              <a:spcAft>
                <a:spcPts val="700"/>
              </a:spcAft>
              <a:defRPr sz="1700" b="0">
                <a:solidFill>
                  <a:srgbClr val="5A6B78"/>
                </a:solidFill>
                <a:latin typeface="DejaVu Sans"/>
              </a:defRPr>
            </a:pPr>
            <a:r>
              <a:t>Program details, eligibility, dates, location, and a contact method.</a:t>
            </a:r>
          </a:p>
        </p:txBody>
      </p:sp>
      <p:sp>
        <p:nvSpPr>
          <p:cNvPr id="6" name="TextBox 5"/>
          <p:cNvSpPr txBox="1"/>
          <p:nvPr/>
        </p:nvSpPr>
        <p:spPr>
          <a:xfrm>
            <a:off x="4407408" y="2221992"/>
            <a:ext cx="3291840" cy="457200"/>
          </a:xfrm>
          <a:prstGeom prst="rect">
            <a:avLst/>
          </a:prstGeom>
          <a:noFill/>
        </p:spPr>
        <p:txBody>
          <a:bodyPr wrap="square" lIns="18288" rIns="18288" tIns="18288" bIns="18288">
            <a:spAutoFit/>
          </a:bodyPr>
          <a:lstStyle/>
          <a:p>
            <a:pPr>
              <a:spcAft>
                <a:spcPts val="700"/>
              </a:spcAft>
              <a:defRPr sz="2300" b="1">
                <a:solidFill>
                  <a:srgbClr val="132434"/>
                </a:solidFill>
                <a:latin typeface="DejaVu Sans"/>
              </a:defRPr>
            </a:pPr>
            <a:r>
              <a:t>Admin review</a:t>
            </a:r>
          </a:p>
        </p:txBody>
      </p:sp>
      <p:sp>
        <p:nvSpPr>
          <p:cNvPr id="7" name="TextBox 6"/>
          <p:cNvSpPr txBox="1"/>
          <p:nvPr/>
        </p:nvSpPr>
        <p:spPr>
          <a:xfrm>
            <a:off x="4407408" y="2834640"/>
            <a:ext cx="3236976" cy="1325880"/>
          </a:xfrm>
          <a:prstGeom prst="rect">
            <a:avLst/>
          </a:prstGeom>
          <a:noFill/>
        </p:spPr>
        <p:txBody>
          <a:bodyPr wrap="square" lIns="18288" rIns="18288" tIns="18288" bIns="18288">
            <a:spAutoFit/>
          </a:bodyPr>
          <a:lstStyle/>
          <a:p>
            <a:pPr>
              <a:spcAft>
                <a:spcPts val="700"/>
              </a:spcAft>
              <a:defRPr sz="1700" b="0">
                <a:solidFill>
                  <a:srgbClr val="5A6B78"/>
                </a:solidFill>
                <a:latin typeface="DejaVu Sans"/>
              </a:defRPr>
            </a:pPr>
            <a:r>
              <a:t>Check the listing before families see it and flag changes over time.</a:t>
            </a:r>
          </a:p>
        </p:txBody>
      </p:sp>
      <p:sp>
        <p:nvSpPr>
          <p:cNvPr id="8" name="TextBox 7"/>
          <p:cNvSpPr txBox="1"/>
          <p:nvPr/>
        </p:nvSpPr>
        <p:spPr>
          <a:xfrm>
            <a:off x="8211312" y="2221992"/>
            <a:ext cx="3246120" cy="457200"/>
          </a:xfrm>
          <a:prstGeom prst="rect">
            <a:avLst/>
          </a:prstGeom>
          <a:noFill/>
        </p:spPr>
        <p:txBody>
          <a:bodyPr wrap="square" lIns="18288" rIns="18288" tIns="18288" bIns="18288">
            <a:spAutoFit/>
          </a:bodyPr>
          <a:lstStyle/>
          <a:p>
            <a:pPr>
              <a:spcAft>
                <a:spcPts val="700"/>
              </a:spcAft>
              <a:defRPr sz="2300" b="1">
                <a:solidFill>
                  <a:srgbClr val="132434"/>
                </a:solidFill>
                <a:latin typeface="DejaVu Sans"/>
              </a:defRPr>
            </a:pPr>
            <a:r>
              <a:t>Families act</a:t>
            </a:r>
          </a:p>
        </p:txBody>
      </p:sp>
      <p:sp>
        <p:nvSpPr>
          <p:cNvPr id="9" name="TextBox 8"/>
          <p:cNvSpPr txBox="1"/>
          <p:nvPr/>
        </p:nvSpPr>
        <p:spPr>
          <a:xfrm>
            <a:off x="8211312" y="2834640"/>
            <a:ext cx="3182112" cy="1325880"/>
          </a:xfrm>
          <a:prstGeom prst="rect">
            <a:avLst/>
          </a:prstGeom>
          <a:noFill/>
        </p:spPr>
        <p:txBody>
          <a:bodyPr wrap="square" lIns="18288" rIns="18288" tIns="18288" bIns="18288">
            <a:spAutoFit/>
          </a:bodyPr>
          <a:lstStyle/>
          <a:p>
            <a:pPr>
              <a:spcAft>
                <a:spcPts val="700"/>
              </a:spcAft>
              <a:defRPr sz="1700" b="0">
                <a:solidFill>
                  <a:srgbClr val="5A6B78"/>
                </a:solidFill>
                <a:latin typeface="DejaVu Sans"/>
              </a:defRPr>
            </a:pPr>
            <a:r>
              <a:t>Search, save, and connect to the provider with a clear next step.</a:t>
            </a:r>
          </a:p>
        </p:txBody>
      </p:sp>
      <p:sp>
        <p:nvSpPr>
          <p:cNvPr id="10" name="Rectangle 9"/>
          <p:cNvSpPr/>
          <p:nvPr/>
        </p:nvSpPr>
        <p:spPr>
          <a:xfrm>
            <a:off x="658368" y="4663440"/>
            <a:ext cx="10789920" cy="22860"/>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4992624"/>
            <a:ext cx="10652760" cy="822960"/>
          </a:xfrm>
          <a:prstGeom prst="rect">
            <a:avLst/>
          </a:prstGeom>
          <a:noFill/>
        </p:spPr>
        <p:txBody>
          <a:bodyPr wrap="square" lIns="18288" rIns="18288" tIns="18288" bIns="18288">
            <a:spAutoFit/>
          </a:bodyPr>
          <a:lstStyle/>
          <a:p>
            <a:pPr>
              <a:spcAft>
                <a:spcPts val="700"/>
              </a:spcAft>
              <a:defRPr sz="1900" b="1">
                <a:solidFill>
                  <a:srgbClr val="132434"/>
                </a:solidFill>
                <a:latin typeface="DejaVu Sans"/>
              </a:defRPr>
            </a:pPr>
            <a:r>
              <a:t>Trust depends on current listings. The pilot will measure accuracy as well as use.</a:t>
            </a:r>
          </a:p>
        </p:txBody>
      </p:sp>
      <p:sp>
        <p:nvSpPr>
          <p:cNvPr id="12" name="TextBox 11"/>
          <p:cNvSpPr txBox="1"/>
          <p:nvPr/>
        </p:nvSpPr>
        <p:spPr>
          <a:xfrm>
            <a:off x="658368" y="6464808"/>
            <a:ext cx="10058400" cy="219456"/>
          </a:xfrm>
          <a:prstGeom prst="rect">
            <a:avLst/>
          </a:prstGeom>
          <a:noFill/>
        </p:spPr>
        <p:txBody>
          <a:bodyPr wrap="square" lIns="18288" rIns="18288" tIns="18288" bIns="18288">
            <a:spAutoFit/>
          </a:bodyPr>
          <a:lstStyle/>
          <a:p>
            <a:pPr>
              <a:spcAft>
                <a:spcPts val="700"/>
              </a:spcAft>
              <a:defRPr sz="800" b="0">
                <a:solidFill>
                  <a:srgbClr val="5A6B78"/>
                </a:solidFill>
                <a:latin typeface="DejaVu Sans"/>
              </a:defRPr>
            </a:pPr>
            <a:r>
              <a:t>OPPORTUNITY 313</a:t>
            </a:r>
          </a:p>
        </p:txBody>
      </p:sp>
      <p:sp>
        <p:nvSpPr>
          <p:cNvPr id="13" name="TextBox 12"/>
          <p:cNvSpPr txBox="1"/>
          <p:nvPr/>
        </p:nvSpPr>
        <p:spPr>
          <a:xfrm>
            <a:off x="11109960" y="6437376"/>
            <a:ext cx="411480" cy="256032"/>
          </a:xfrm>
          <a:prstGeom prst="rect">
            <a:avLst/>
          </a:prstGeom>
          <a:noFill/>
        </p:spPr>
        <p:txBody>
          <a:bodyPr wrap="square" lIns="18288" rIns="18288" tIns="18288" bIns="18288">
            <a:spAutoFit/>
          </a:bodyPr>
          <a:lstStyle/>
          <a:p>
            <a:pPr algn="r">
              <a:spcAft>
                <a:spcPts val="700"/>
              </a:spcAft>
              <a:defRPr sz="900" b="1">
                <a:solidFill>
                  <a:srgbClr val="5A6B78"/>
                </a:solidFill>
                <a:latin typeface="DejaVu San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40080" y="347472"/>
            <a:ext cx="10058400" cy="292608"/>
          </a:xfrm>
          <a:prstGeom prst="rect">
            <a:avLst/>
          </a:prstGeom>
          <a:noFill/>
        </p:spPr>
        <p:txBody>
          <a:bodyPr wrap="square" lIns="18288" rIns="18288" tIns="18288" bIns="18288">
            <a:spAutoFit/>
          </a:bodyPr>
          <a:lstStyle/>
          <a:p>
            <a:pPr>
              <a:spcAft>
                <a:spcPts val="700"/>
              </a:spcAft>
              <a:defRPr sz="1100" b="1">
                <a:solidFill>
                  <a:srgbClr val="5A6B78"/>
                </a:solidFill>
                <a:latin typeface="DejaVu Sans"/>
              </a:defRPr>
            </a:pPr>
            <a:r>
              <a:t>DETROIT LAUNCH PLAN</a:t>
            </a:r>
          </a:p>
        </p:txBody>
      </p:sp>
      <p:sp>
        <p:nvSpPr>
          <p:cNvPr id="3" name="TextBox 2"/>
          <p:cNvSpPr txBox="1"/>
          <p:nvPr/>
        </p:nvSpPr>
        <p:spPr>
          <a:xfrm>
            <a:off x="640080" y="960120"/>
            <a:ext cx="10927080" cy="1024128"/>
          </a:xfrm>
          <a:prstGeom prst="rect">
            <a:avLst/>
          </a:prstGeom>
          <a:noFill/>
        </p:spPr>
        <p:txBody>
          <a:bodyPr wrap="square" lIns="18288" rIns="18288" tIns="18288" bIns="18288">
            <a:spAutoFit/>
          </a:bodyPr>
          <a:lstStyle/>
          <a:p>
            <a:pPr>
              <a:spcAft>
                <a:spcPts val="700"/>
              </a:spcAft>
              <a:defRPr sz="3400" b="1">
                <a:solidFill>
                  <a:srgbClr val="132434"/>
                </a:solidFill>
                <a:latin typeface="DejaVu Sans"/>
              </a:defRPr>
            </a:pPr>
            <a:r>
              <a:t>Pilot in one partner network, then expand.</a:t>
            </a:r>
          </a:p>
        </p:txBody>
      </p:sp>
      <p:sp>
        <p:nvSpPr>
          <p:cNvPr id="4" name="TextBox 3"/>
          <p:cNvSpPr txBox="1"/>
          <p:nvPr/>
        </p:nvSpPr>
        <p:spPr>
          <a:xfrm>
            <a:off x="658368" y="2112264"/>
            <a:ext cx="5120640" cy="475488"/>
          </a:xfrm>
          <a:prstGeom prst="rect">
            <a:avLst/>
          </a:prstGeom>
          <a:noFill/>
        </p:spPr>
        <p:txBody>
          <a:bodyPr wrap="square" lIns="18288" rIns="18288" tIns="18288" bIns="18288">
            <a:spAutoFit/>
          </a:bodyPr>
          <a:lstStyle/>
          <a:p>
            <a:pPr>
              <a:spcAft>
                <a:spcPts val="700"/>
              </a:spcAft>
              <a:defRPr sz="2100" b="1">
                <a:solidFill>
                  <a:srgbClr val="FF5326"/>
                </a:solidFill>
                <a:latin typeface="DejaVu Sans"/>
              </a:defRPr>
            </a:pPr>
            <a:r>
              <a:t>Pilot request</a:t>
            </a:r>
          </a:p>
        </p:txBody>
      </p:sp>
      <p:sp>
        <p:nvSpPr>
          <p:cNvPr id="5" name="TextBox 4"/>
          <p:cNvSpPr txBox="1"/>
          <p:nvPr/>
        </p:nvSpPr>
        <p:spPr>
          <a:xfrm>
            <a:off x="658368" y="2697480"/>
            <a:ext cx="5102352" cy="1444752"/>
          </a:xfrm>
          <a:prstGeom prst="rect">
            <a:avLst/>
          </a:prstGeom>
          <a:noFill/>
        </p:spPr>
        <p:txBody>
          <a:bodyPr wrap="square" lIns="18288" rIns="18288" tIns="18288" bIns="18288">
            <a:spAutoFit/>
          </a:bodyPr>
          <a:lstStyle/>
          <a:p>
            <a:pPr>
              <a:spcAft>
                <a:spcPts val="700"/>
              </a:spcAft>
              <a:defRPr sz="1900" b="0">
                <a:solidFill>
                  <a:srgbClr val="132434"/>
                </a:solidFill>
                <a:latin typeface="DejaVu Sans"/>
              </a:defRPr>
            </a:pPr>
            <a:r>
              <a:t>One Detroit school or community partner, provider introductions, and 25–50 youth and family testers.</a:t>
            </a:r>
          </a:p>
        </p:txBody>
      </p:sp>
      <p:sp>
        <p:nvSpPr>
          <p:cNvPr id="6" name="TextBox 5"/>
          <p:cNvSpPr txBox="1"/>
          <p:nvPr/>
        </p:nvSpPr>
        <p:spPr>
          <a:xfrm>
            <a:off x="6400800" y="2112264"/>
            <a:ext cx="5029200" cy="475488"/>
          </a:xfrm>
          <a:prstGeom prst="rect">
            <a:avLst/>
          </a:prstGeom>
          <a:noFill/>
        </p:spPr>
        <p:txBody>
          <a:bodyPr wrap="square" lIns="18288" rIns="18288" tIns="18288" bIns="18288">
            <a:spAutoFit/>
          </a:bodyPr>
          <a:lstStyle/>
          <a:p>
            <a:pPr>
              <a:spcAft>
                <a:spcPts val="700"/>
              </a:spcAft>
              <a:defRPr sz="2100" b="1">
                <a:solidFill>
                  <a:srgbClr val="FF5326"/>
                </a:solidFill>
                <a:latin typeface="DejaVu Sans"/>
              </a:defRPr>
            </a:pPr>
            <a:r>
              <a:t>What we will measure</a:t>
            </a:r>
          </a:p>
        </p:txBody>
      </p:sp>
      <p:sp>
        <p:nvSpPr>
          <p:cNvPr id="7" name="TextBox 6"/>
          <p:cNvSpPr txBox="1"/>
          <p:nvPr/>
        </p:nvSpPr>
        <p:spPr>
          <a:xfrm>
            <a:off x="6400800" y="2697480"/>
            <a:ext cx="5074920" cy="1965960"/>
          </a:xfrm>
          <a:prstGeom prst="rect">
            <a:avLst/>
          </a:prstGeom>
          <a:noFill/>
        </p:spPr>
        <p:txBody>
          <a:bodyPr wrap="square" lIns="18288" rIns="18288" tIns="18288" bIns="18288">
            <a:spAutoFit/>
          </a:bodyPr>
          <a:lstStyle/>
          <a:p>
            <a:pPr>
              <a:spcAft>
                <a:spcPts val="700"/>
              </a:spcAft>
              <a:defRPr sz="1700" b="0">
                <a:solidFill>
                  <a:srgbClr val="132434"/>
                </a:solidFill>
                <a:latin typeface="DejaVu Sans"/>
              </a:defRPr>
            </a:pPr>
            <a:r>
              <a:t>Relevant opportunities found</a:t>
            </a:r>
          </a:p>
          <a:p>
            <a:pPr>
              <a:spcAft>
                <a:spcPts val="700"/>
              </a:spcAft>
              <a:defRPr sz="1700" b="0">
                <a:solidFill>
                  <a:srgbClr val="132434"/>
                </a:solidFill>
                <a:latin typeface="DejaVu Sans"/>
              </a:defRPr>
            </a:pPr>
            <a:r>
              <a:t>Provider contacts or referrals</a:t>
            </a:r>
          </a:p>
          <a:p>
            <a:pPr>
              <a:spcAft>
                <a:spcPts val="700"/>
              </a:spcAft>
              <a:defRPr sz="1700" b="0">
                <a:solidFill>
                  <a:srgbClr val="132434"/>
                </a:solidFill>
                <a:latin typeface="DejaVu Sans"/>
              </a:defRPr>
            </a:pPr>
            <a:r>
              <a:t>Confirmed enrollments when partners can report them</a:t>
            </a:r>
          </a:p>
          <a:p>
            <a:pPr>
              <a:spcAft>
                <a:spcPts val="700"/>
              </a:spcAft>
              <a:defRPr sz="1700" b="0">
                <a:solidFill>
                  <a:srgbClr val="132434"/>
                </a:solidFill>
                <a:latin typeface="DejaVu Sans"/>
              </a:defRPr>
            </a:pPr>
            <a:r>
              <a:t>Outdated listings and access barriers</a:t>
            </a:r>
          </a:p>
        </p:txBody>
      </p:sp>
      <p:sp>
        <p:nvSpPr>
          <p:cNvPr id="8" name="Rectangle 7"/>
          <p:cNvSpPr/>
          <p:nvPr/>
        </p:nvSpPr>
        <p:spPr>
          <a:xfrm>
            <a:off x="658368" y="5056632"/>
            <a:ext cx="10771632" cy="22860"/>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376672"/>
            <a:ext cx="10424160" cy="585216"/>
          </a:xfrm>
          <a:prstGeom prst="rect">
            <a:avLst/>
          </a:prstGeom>
          <a:noFill/>
        </p:spPr>
        <p:txBody>
          <a:bodyPr wrap="square" lIns="18288" rIns="18288" tIns="18288" bIns="18288">
            <a:spAutoFit/>
          </a:bodyPr>
          <a:lstStyle/>
          <a:p>
            <a:pPr>
              <a:spcAft>
                <a:spcPts val="700"/>
              </a:spcAft>
              <a:defRPr sz="1800" b="1">
                <a:solidFill>
                  <a:srgbClr val="132434"/>
                </a:solidFill>
                <a:latin typeface="DejaVu Sans"/>
              </a:defRPr>
            </a:pPr>
            <a:r>
              <a:t>The first proof is a completed family journey, not a large sign-up count.</a:t>
            </a:r>
          </a:p>
        </p:txBody>
      </p:sp>
      <p:sp>
        <p:nvSpPr>
          <p:cNvPr id="10" name="TextBox 9"/>
          <p:cNvSpPr txBox="1"/>
          <p:nvPr/>
        </p:nvSpPr>
        <p:spPr>
          <a:xfrm>
            <a:off x="658368" y="6464808"/>
            <a:ext cx="10058400" cy="219456"/>
          </a:xfrm>
          <a:prstGeom prst="rect">
            <a:avLst/>
          </a:prstGeom>
          <a:noFill/>
        </p:spPr>
        <p:txBody>
          <a:bodyPr wrap="square" lIns="18288" rIns="18288" tIns="18288" bIns="18288">
            <a:spAutoFit/>
          </a:bodyPr>
          <a:lstStyle/>
          <a:p>
            <a:pPr>
              <a:spcAft>
                <a:spcPts val="700"/>
              </a:spcAft>
              <a:defRPr sz="800" b="0">
                <a:solidFill>
                  <a:srgbClr val="5A6B78"/>
                </a:solidFill>
                <a:latin typeface="DejaVu Sans"/>
              </a:defRPr>
            </a:pPr>
            <a:r>
              <a:t>OPPORTUNITY 313</a:t>
            </a:r>
          </a:p>
        </p:txBody>
      </p:sp>
      <p:sp>
        <p:nvSpPr>
          <p:cNvPr id="11" name="TextBox 10"/>
          <p:cNvSpPr txBox="1"/>
          <p:nvPr/>
        </p:nvSpPr>
        <p:spPr>
          <a:xfrm>
            <a:off x="11109960" y="6437376"/>
            <a:ext cx="411480" cy="256032"/>
          </a:xfrm>
          <a:prstGeom prst="rect">
            <a:avLst/>
          </a:prstGeom>
          <a:noFill/>
        </p:spPr>
        <p:txBody>
          <a:bodyPr wrap="square" lIns="18288" rIns="18288" tIns="18288" bIns="18288">
            <a:spAutoFit/>
          </a:bodyPr>
          <a:lstStyle/>
          <a:p>
            <a:pPr algn="r">
              <a:spcAft>
                <a:spcPts val="700"/>
              </a:spcAft>
              <a:defRPr sz="900" b="1">
                <a:solidFill>
                  <a:srgbClr val="5A6B78"/>
                </a:solidFill>
                <a:latin typeface="DejaVu San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D34"/>
        </a:solidFill>
        <a:effectLst/>
      </p:bgPr>
    </p:bg>
    <p:spTree>
      <p:nvGrpSpPr>
        <p:cNvPr id="1" name=""/>
        <p:cNvGrpSpPr/>
        <p:nvPr/>
      </p:nvGrpSpPr>
      <p:grpSpPr/>
      <p:sp>
        <p:nvSpPr>
          <p:cNvPr id="2" name="TextBox 1"/>
          <p:cNvSpPr txBox="1"/>
          <p:nvPr/>
        </p:nvSpPr>
        <p:spPr>
          <a:xfrm>
            <a:off x="640080" y="347472"/>
            <a:ext cx="10058400" cy="292608"/>
          </a:xfrm>
          <a:prstGeom prst="rect">
            <a:avLst/>
          </a:prstGeom>
          <a:noFill/>
        </p:spPr>
        <p:txBody>
          <a:bodyPr wrap="square" lIns="18288" rIns="18288" tIns="18288" bIns="18288">
            <a:spAutoFit/>
          </a:bodyPr>
          <a:lstStyle/>
          <a:p>
            <a:pPr>
              <a:spcAft>
                <a:spcPts val="700"/>
              </a:spcAft>
              <a:defRPr sz="1100" b="1">
                <a:solidFill>
                  <a:srgbClr val="FF5326"/>
                </a:solidFill>
                <a:latin typeface="DejaVu Sans"/>
              </a:defRPr>
            </a:pPr>
            <a:r>
              <a:t>SUSTAINABILITY</a:t>
            </a:r>
          </a:p>
        </p:txBody>
      </p:sp>
      <p:sp>
        <p:nvSpPr>
          <p:cNvPr id="3" name="TextBox 2"/>
          <p:cNvSpPr txBox="1"/>
          <p:nvPr/>
        </p:nvSpPr>
        <p:spPr>
          <a:xfrm>
            <a:off x="640080" y="960120"/>
            <a:ext cx="10927080" cy="1024128"/>
          </a:xfrm>
          <a:prstGeom prst="rect">
            <a:avLst/>
          </a:prstGeom>
          <a:noFill/>
        </p:spPr>
        <p:txBody>
          <a:bodyPr wrap="square" lIns="18288" rIns="18288" tIns="18288" bIns="18288">
            <a:spAutoFit/>
          </a:bodyPr>
          <a:lstStyle/>
          <a:p>
            <a:pPr>
              <a:spcAft>
                <a:spcPts val="700"/>
              </a:spcAft>
              <a:defRPr sz="3400" b="1">
                <a:solidFill>
                  <a:srgbClr val="FFFFFF"/>
                </a:solidFill>
                <a:latin typeface="DejaVu Sans"/>
              </a:defRPr>
            </a:pPr>
            <a:r>
              <a:t>A partner-funded model to test after the pilot.</a:t>
            </a:r>
          </a:p>
        </p:txBody>
      </p:sp>
      <p:sp>
        <p:nvSpPr>
          <p:cNvPr id="4" name="TextBox 3"/>
          <p:cNvSpPr txBox="1"/>
          <p:nvPr/>
        </p:nvSpPr>
        <p:spPr>
          <a:xfrm>
            <a:off x="658368" y="2258568"/>
            <a:ext cx="4956048" cy="530352"/>
          </a:xfrm>
          <a:prstGeom prst="rect">
            <a:avLst/>
          </a:prstGeom>
          <a:noFill/>
        </p:spPr>
        <p:txBody>
          <a:bodyPr wrap="square" lIns="18288" rIns="18288" tIns="18288" bIns="18288">
            <a:spAutoFit/>
          </a:bodyPr>
          <a:lstStyle/>
          <a:p>
            <a:pPr>
              <a:spcAft>
                <a:spcPts val="700"/>
              </a:spcAft>
              <a:defRPr sz="2200" b="1">
                <a:solidFill>
                  <a:srgbClr val="FFFFFF"/>
                </a:solidFill>
                <a:latin typeface="DejaVu Sans"/>
              </a:defRPr>
            </a:pPr>
            <a:r>
              <a:t>Who benefits</a:t>
            </a:r>
          </a:p>
        </p:txBody>
      </p:sp>
      <p:sp>
        <p:nvSpPr>
          <p:cNvPr id="5" name="TextBox 4"/>
          <p:cNvSpPr txBox="1"/>
          <p:nvPr/>
        </p:nvSpPr>
        <p:spPr>
          <a:xfrm>
            <a:off x="658368" y="2862072"/>
            <a:ext cx="5047488" cy="1481328"/>
          </a:xfrm>
          <a:prstGeom prst="rect">
            <a:avLst/>
          </a:prstGeom>
          <a:noFill/>
        </p:spPr>
        <p:txBody>
          <a:bodyPr wrap="square" lIns="18288" rIns="18288" tIns="18288" bIns="18288">
            <a:spAutoFit/>
          </a:bodyPr>
          <a:lstStyle/>
          <a:p>
            <a:pPr>
              <a:spcAft>
                <a:spcPts val="700"/>
              </a:spcAft>
              <a:defRPr sz="1800" b="0">
                <a:solidFill>
                  <a:srgbClr val="DAE1E5"/>
                </a:solidFill>
                <a:latin typeface="DejaVu Sans"/>
              </a:defRPr>
            </a:pPr>
            <a:r>
              <a:t>Families get a free way to find opportunities. Providers can reach qualified participants and manage listings.</a:t>
            </a:r>
          </a:p>
        </p:txBody>
      </p:sp>
      <p:sp>
        <p:nvSpPr>
          <p:cNvPr id="6" name="TextBox 5"/>
          <p:cNvSpPr txBox="1"/>
          <p:nvPr/>
        </p:nvSpPr>
        <p:spPr>
          <a:xfrm>
            <a:off x="6428232" y="2258568"/>
            <a:ext cx="4873752" cy="530352"/>
          </a:xfrm>
          <a:prstGeom prst="rect">
            <a:avLst/>
          </a:prstGeom>
          <a:noFill/>
        </p:spPr>
        <p:txBody>
          <a:bodyPr wrap="square" lIns="18288" rIns="18288" tIns="18288" bIns="18288">
            <a:spAutoFit/>
          </a:bodyPr>
          <a:lstStyle/>
          <a:p>
            <a:pPr>
              <a:spcAft>
                <a:spcPts val="700"/>
              </a:spcAft>
              <a:defRPr sz="2200" b="1">
                <a:solidFill>
                  <a:srgbClr val="FFFFFF"/>
                </a:solidFill>
                <a:latin typeface="DejaVu Sans"/>
              </a:defRPr>
            </a:pPr>
            <a:r>
              <a:t>Revenue hypotheses</a:t>
            </a:r>
          </a:p>
        </p:txBody>
      </p:sp>
      <p:sp>
        <p:nvSpPr>
          <p:cNvPr id="7" name="TextBox 6"/>
          <p:cNvSpPr txBox="1"/>
          <p:nvPr/>
        </p:nvSpPr>
        <p:spPr>
          <a:xfrm>
            <a:off x="6428232" y="2862072"/>
            <a:ext cx="4910328" cy="1481328"/>
          </a:xfrm>
          <a:prstGeom prst="rect">
            <a:avLst/>
          </a:prstGeom>
          <a:noFill/>
        </p:spPr>
        <p:txBody>
          <a:bodyPr wrap="square" lIns="18288" rIns="18288" tIns="18288" bIns="18288">
            <a:spAutoFit/>
          </a:bodyPr>
          <a:lstStyle/>
          <a:p>
            <a:pPr>
              <a:spcAft>
                <a:spcPts val="700"/>
              </a:spcAft>
              <a:defRPr sz="1800" b="0">
                <a:solidFill>
                  <a:srgbClr val="DAE1E5"/>
                </a:solidFill>
                <a:latin typeface="DejaVu Sans"/>
              </a:defRPr>
            </a:pPr>
            <a:r>
              <a:t>Institutional partnerships and provider subscriptions, subject to willingness-to-pay research.</a:t>
            </a:r>
          </a:p>
        </p:txBody>
      </p:sp>
      <p:sp>
        <p:nvSpPr>
          <p:cNvPr id="8" name="Rectangle 7"/>
          <p:cNvSpPr/>
          <p:nvPr/>
        </p:nvSpPr>
        <p:spPr>
          <a:xfrm>
            <a:off x="658368" y="4828032"/>
            <a:ext cx="10698480" cy="18288"/>
          </a:xfrm>
          <a:prstGeom prst="rect">
            <a:avLst/>
          </a:prstGeom>
          <a:solidFill>
            <a:srgbClr val="0C2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202936"/>
            <a:ext cx="10515600" cy="640080"/>
          </a:xfrm>
          <a:prstGeom prst="rect">
            <a:avLst/>
          </a:prstGeom>
          <a:noFill/>
        </p:spPr>
        <p:txBody>
          <a:bodyPr wrap="square" lIns="18288" rIns="18288" tIns="18288" bIns="18288">
            <a:spAutoFit/>
          </a:bodyPr>
          <a:lstStyle/>
          <a:p>
            <a:pPr>
              <a:spcAft>
                <a:spcPts val="700"/>
              </a:spcAft>
              <a:defRPr sz="1700" b="1">
                <a:solidFill>
                  <a:srgbClr val="FFFFFF"/>
                </a:solidFill>
                <a:latin typeface="DejaVu Sans"/>
              </a:defRPr>
            </a:pPr>
            <a:r>
              <a:t>Expansion follows verified outcomes and a repeatable provider review process.</a:t>
            </a:r>
          </a:p>
        </p:txBody>
      </p:sp>
      <p:sp>
        <p:nvSpPr>
          <p:cNvPr id="10" name="TextBox 9"/>
          <p:cNvSpPr txBox="1"/>
          <p:nvPr/>
        </p:nvSpPr>
        <p:spPr>
          <a:xfrm>
            <a:off x="658368" y="6464808"/>
            <a:ext cx="10058400" cy="219456"/>
          </a:xfrm>
          <a:prstGeom prst="rect">
            <a:avLst/>
          </a:prstGeom>
          <a:noFill/>
        </p:spPr>
        <p:txBody>
          <a:bodyPr wrap="square" lIns="18288" rIns="18288" tIns="18288" bIns="18288">
            <a:spAutoFit/>
          </a:bodyPr>
          <a:lstStyle/>
          <a:p>
            <a:pPr>
              <a:spcAft>
                <a:spcPts val="700"/>
              </a:spcAft>
              <a:defRPr sz="800" b="0">
                <a:solidFill>
                  <a:srgbClr val="DAE1E5"/>
                </a:solidFill>
                <a:latin typeface="DejaVu Sans"/>
              </a:defRPr>
            </a:pPr>
            <a:r>
              <a:t>OPPORTUNITY 313</a:t>
            </a:r>
          </a:p>
        </p:txBody>
      </p:sp>
      <p:sp>
        <p:nvSpPr>
          <p:cNvPr id="11" name="TextBox 10"/>
          <p:cNvSpPr txBox="1"/>
          <p:nvPr/>
        </p:nvSpPr>
        <p:spPr>
          <a:xfrm>
            <a:off x="11109960" y="6437376"/>
            <a:ext cx="411480" cy="256032"/>
          </a:xfrm>
          <a:prstGeom prst="rect">
            <a:avLst/>
          </a:prstGeom>
          <a:noFill/>
        </p:spPr>
        <p:txBody>
          <a:bodyPr wrap="square" lIns="18288" rIns="18288" tIns="18288" bIns="18288">
            <a:spAutoFit/>
          </a:bodyPr>
          <a:lstStyle/>
          <a:p>
            <a:pPr algn="r">
              <a:spcAft>
                <a:spcPts val="700"/>
              </a:spcAft>
              <a:defRPr sz="900" b="1">
                <a:solidFill>
                  <a:srgbClr val="DAE1E5"/>
                </a:solidFill>
                <a:latin typeface="DejaVu San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7F3"/>
        </a:solidFill>
        <a:effectLst/>
      </p:bgPr>
    </p:bg>
    <p:spTree>
      <p:nvGrpSpPr>
        <p:cNvPr id="1" name=""/>
        <p:cNvGrpSpPr/>
        <p:nvPr/>
      </p:nvGrpSpPr>
      <p:grpSpPr/>
      <p:sp>
        <p:nvSpPr>
          <p:cNvPr id="2" name="TextBox 1"/>
          <p:cNvSpPr txBox="1"/>
          <p:nvPr/>
        </p:nvSpPr>
        <p:spPr>
          <a:xfrm>
            <a:off x="640080" y="347472"/>
            <a:ext cx="10058400" cy="292608"/>
          </a:xfrm>
          <a:prstGeom prst="rect">
            <a:avLst/>
          </a:prstGeom>
          <a:noFill/>
        </p:spPr>
        <p:txBody>
          <a:bodyPr wrap="square" lIns="18288" rIns="18288" tIns="18288" bIns="18288">
            <a:spAutoFit/>
          </a:bodyPr>
          <a:lstStyle/>
          <a:p>
            <a:pPr>
              <a:spcAft>
                <a:spcPts val="700"/>
              </a:spcAft>
              <a:defRPr sz="1100" b="1">
                <a:solidFill>
                  <a:srgbClr val="5A6B78"/>
                </a:solidFill>
                <a:latin typeface="DejaVu Sans"/>
              </a:defRPr>
            </a:pPr>
            <a:r>
              <a:t>THE ASK</a:t>
            </a:r>
          </a:p>
        </p:txBody>
      </p:sp>
      <p:sp>
        <p:nvSpPr>
          <p:cNvPr id="3" name="TextBox 2"/>
          <p:cNvSpPr txBox="1"/>
          <p:nvPr/>
        </p:nvSpPr>
        <p:spPr>
          <a:xfrm>
            <a:off x="640080" y="960120"/>
            <a:ext cx="10927080" cy="1024128"/>
          </a:xfrm>
          <a:prstGeom prst="rect">
            <a:avLst/>
          </a:prstGeom>
          <a:noFill/>
        </p:spPr>
        <p:txBody>
          <a:bodyPr wrap="square" lIns="18288" rIns="18288" tIns="18288" bIns="18288">
            <a:spAutoFit/>
          </a:bodyPr>
          <a:lstStyle/>
          <a:p>
            <a:pPr>
              <a:spcAft>
                <a:spcPts val="700"/>
              </a:spcAft>
              <a:defRPr sz="3400" b="1">
                <a:solidFill>
                  <a:srgbClr val="132434"/>
                </a:solidFill>
                <a:latin typeface="DejaVu Sans"/>
              </a:defRPr>
            </a:pPr>
            <a:r>
              <a:t>Help test a better route to opportunity.</a:t>
            </a:r>
          </a:p>
        </p:txBody>
      </p:sp>
      <p:sp>
        <p:nvSpPr>
          <p:cNvPr id="4" name="TextBox 3"/>
          <p:cNvSpPr txBox="1"/>
          <p:nvPr/>
        </p:nvSpPr>
        <p:spPr>
          <a:xfrm>
            <a:off x="658368" y="2212848"/>
            <a:ext cx="7498079" cy="786384"/>
          </a:xfrm>
          <a:prstGeom prst="rect">
            <a:avLst/>
          </a:prstGeom>
          <a:noFill/>
        </p:spPr>
        <p:txBody>
          <a:bodyPr wrap="square" lIns="18288" rIns="18288" tIns="18288" bIns="18288">
            <a:spAutoFit/>
          </a:bodyPr>
          <a:lstStyle/>
          <a:p>
            <a:pPr>
              <a:spcAft>
                <a:spcPts val="700"/>
              </a:spcAft>
              <a:defRPr sz="2600" b="1">
                <a:solidFill>
                  <a:srgbClr val="132434"/>
                </a:solidFill>
                <a:latin typeface="DejaVu Sans"/>
              </a:defRPr>
            </a:pPr>
            <a:r>
              <a:t>Seeking one Detroit pilot partner.</a:t>
            </a:r>
          </a:p>
        </p:txBody>
      </p:sp>
      <p:sp>
        <p:nvSpPr>
          <p:cNvPr id="5" name="TextBox 4"/>
          <p:cNvSpPr txBox="1"/>
          <p:nvPr/>
        </p:nvSpPr>
        <p:spPr>
          <a:xfrm>
            <a:off x="658368" y="3063240"/>
            <a:ext cx="7635240" cy="1298448"/>
          </a:xfrm>
          <a:prstGeom prst="rect">
            <a:avLst/>
          </a:prstGeom>
          <a:noFill/>
        </p:spPr>
        <p:txBody>
          <a:bodyPr wrap="square" lIns="18288" rIns="18288" tIns="18288" bIns="18288">
            <a:spAutoFit/>
          </a:bodyPr>
          <a:lstStyle/>
          <a:p>
            <a:pPr>
              <a:spcAft>
                <a:spcPts val="700"/>
              </a:spcAft>
              <a:defRPr sz="1900" b="0">
                <a:solidFill>
                  <a:srgbClr val="132434"/>
                </a:solidFill>
                <a:latin typeface="DejaVu Sans"/>
              </a:defRPr>
            </a:pPr>
            <a:r>
              <a:t>Introduce youth-serving providers and help recruit 25–50 families. Together, we can test whether people find a relevant program and reach the next step.</a:t>
            </a:r>
          </a:p>
        </p:txBody>
      </p:sp>
      <p:sp>
        <p:nvSpPr>
          <p:cNvPr id="6" name="Rectangle 5"/>
          <p:cNvSpPr/>
          <p:nvPr/>
        </p:nvSpPr>
        <p:spPr>
          <a:xfrm>
            <a:off x="658368" y="4864608"/>
            <a:ext cx="10744200" cy="22860"/>
          </a:xfrm>
          <a:prstGeom prst="rect">
            <a:avLst/>
          </a:prstGeom>
          <a:solidFill>
            <a:srgbClr val="DAE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148072"/>
            <a:ext cx="6949440" cy="384048"/>
          </a:xfrm>
          <a:prstGeom prst="rect">
            <a:avLst/>
          </a:prstGeom>
          <a:noFill/>
        </p:spPr>
        <p:txBody>
          <a:bodyPr wrap="square" lIns="18288" rIns="18288" tIns="18288" bIns="18288">
            <a:spAutoFit/>
          </a:bodyPr>
          <a:lstStyle/>
          <a:p>
            <a:pPr>
              <a:spcAft>
                <a:spcPts val="700"/>
              </a:spcAft>
              <a:defRPr sz="1600" b="1">
                <a:solidFill>
                  <a:srgbClr val="132434"/>
                </a:solidFill>
                <a:latin typeface="DejaVu Sans"/>
              </a:defRPr>
            </a:pPr>
            <a:r>
              <a:t>Kevin Colston  |  Founder &amp; Builder</a:t>
            </a:r>
          </a:p>
        </p:txBody>
      </p:sp>
      <p:sp>
        <p:nvSpPr>
          <p:cNvPr id="8" name="TextBox 7"/>
          <p:cNvSpPr txBox="1"/>
          <p:nvPr/>
        </p:nvSpPr>
        <p:spPr>
          <a:xfrm>
            <a:off x="658368" y="5650992"/>
            <a:ext cx="7132320" cy="347472"/>
          </a:xfrm>
          <a:prstGeom prst="rect">
            <a:avLst/>
          </a:prstGeom>
          <a:noFill/>
        </p:spPr>
        <p:txBody>
          <a:bodyPr wrap="square" lIns="18288" rIns="18288" tIns="18288" bIns="18288">
            <a:spAutoFit/>
          </a:bodyPr>
          <a:lstStyle/>
          <a:p>
            <a:pPr>
              <a:spcAft>
                <a:spcPts val="700"/>
              </a:spcAft>
              <a:defRPr sz="1500" b="0">
                <a:solidFill>
                  <a:srgbClr val="FF5326"/>
                </a:solidFill>
                <a:latin typeface="DejaVu Sans"/>
              </a:defRPr>
            </a:pPr>
            <a:r>
              <a:t>colstk1@gmail.com</a:t>
            </a:r>
          </a:p>
        </p:txBody>
      </p:sp>
      <p:sp>
        <p:nvSpPr>
          <p:cNvPr id="9" name="TextBox 8"/>
          <p:cNvSpPr txBox="1"/>
          <p:nvPr/>
        </p:nvSpPr>
        <p:spPr>
          <a:xfrm>
            <a:off x="7982712" y="5230368"/>
            <a:ext cx="3291840" cy="713232"/>
          </a:xfrm>
          <a:prstGeom prst="rect">
            <a:avLst/>
          </a:prstGeom>
          <a:noFill/>
        </p:spPr>
        <p:txBody>
          <a:bodyPr wrap="square" lIns="18288" rIns="18288" tIns="18288" bIns="18288">
            <a:spAutoFit/>
          </a:bodyPr>
          <a:lstStyle/>
          <a:p>
            <a:pPr>
              <a:spcAft>
                <a:spcPts val="700"/>
              </a:spcAft>
              <a:defRPr sz="1500" b="0">
                <a:solidFill>
                  <a:srgbClr val="5A6B78"/>
                </a:solidFill>
                <a:latin typeface="DejaVu Sans"/>
              </a:defRPr>
            </a:pPr>
            <a:r>
              <a:t>Opportunity 313</a:t>
            </a:r>
          </a:p>
          <a:p>
            <a:pPr>
              <a:spcAft>
                <a:spcPts val="700"/>
              </a:spcAft>
              <a:defRPr sz="1500" b="0">
                <a:solidFill>
                  <a:srgbClr val="5A6B78"/>
                </a:solidFill>
                <a:latin typeface="DejaVu Sans"/>
              </a:defRPr>
            </a:pPr>
            <a:r>
              <a:t>Detroit, Michigan</a:t>
            </a:r>
          </a:p>
        </p:txBody>
      </p:sp>
      <p:sp>
        <p:nvSpPr>
          <p:cNvPr id="10" name="TextBox 9"/>
          <p:cNvSpPr txBox="1"/>
          <p:nvPr/>
        </p:nvSpPr>
        <p:spPr>
          <a:xfrm>
            <a:off x="658368" y="6464808"/>
            <a:ext cx="10058400" cy="219456"/>
          </a:xfrm>
          <a:prstGeom prst="rect">
            <a:avLst/>
          </a:prstGeom>
          <a:noFill/>
        </p:spPr>
        <p:txBody>
          <a:bodyPr wrap="square" lIns="18288" rIns="18288" tIns="18288" bIns="18288">
            <a:spAutoFit/>
          </a:bodyPr>
          <a:lstStyle/>
          <a:p>
            <a:pPr>
              <a:spcAft>
                <a:spcPts val="700"/>
              </a:spcAft>
              <a:defRPr sz="800" b="0">
                <a:solidFill>
                  <a:srgbClr val="5A6B78"/>
                </a:solidFill>
                <a:latin typeface="DejaVu Sans"/>
              </a:defRPr>
            </a:pPr>
            <a:r>
              <a:t>OPPORTUNITY 313</a:t>
            </a:r>
          </a:p>
        </p:txBody>
      </p:sp>
      <p:sp>
        <p:nvSpPr>
          <p:cNvPr id="11" name="TextBox 10"/>
          <p:cNvSpPr txBox="1"/>
          <p:nvPr/>
        </p:nvSpPr>
        <p:spPr>
          <a:xfrm>
            <a:off x="11109960" y="6437376"/>
            <a:ext cx="411480" cy="256032"/>
          </a:xfrm>
          <a:prstGeom prst="rect">
            <a:avLst/>
          </a:prstGeom>
          <a:noFill/>
        </p:spPr>
        <p:txBody>
          <a:bodyPr wrap="square" lIns="18288" rIns="18288" tIns="18288" bIns="18288">
            <a:spAutoFit/>
          </a:bodyPr>
          <a:lstStyle/>
          <a:p>
            <a:pPr algn="r">
              <a:spcAft>
                <a:spcPts val="700"/>
              </a:spcAft>
              <a:defRPr sz="900" b="1">
                <a:solidFill>
                  <a:srgbClr val="5A6B78"/>
                </a:solidFill>
                <a:latin typeface="DejaVu Sans"/>
              </a:defRPr>
            </a:pPr>
            <a: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